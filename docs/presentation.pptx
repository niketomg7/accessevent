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74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E3A8A"/>
                </a:solidFill>
                <a:latin typeface="Arial"/>
              </a:defRPr>
            </a:pPr>
            <a:r>
              <a:t>♿ AccessEvent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728655" cy="32918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9966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AccessEvent — инклюзивная платформа мероприятий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83464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3A8A"/>
                </a:solidFill>
                <a:latin typeface="Arial"/>
              </a:defRPr>
            </a:pPr>
            <a:r>
              <a:t>Веб-приложение для организации мероприятий, доступное людям с нарушениями слуха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F172A"/>
                </a:solidFill>
                <a:latin typeface="Arial"/>
              </a:defRPr>
            </a:pPr>
            <a:r>
              <a:t>Тулинов Никита</a:t>
            </a:r>
          </a:p>
          <a:p>
            <a:pPr>
              <a:spcAft>
                <a:spcPts val="4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Группа 09.02.07-21</a:t>
            </a:r>
          </a:p>
          <a:p>
            <a:pPr>
              <a:spcAft>
                <a:spcPts val="400"/>
              </a:spcAft>
              <a:defRPr sz="2000" b="0">
                <a:solidFill>
                  <a:srgbClr val="0F172A"/>
                </a:solidFill>
                <a:latin typeface="Arial"/>
              </a:defRPr>
            </a:pPr>
            <a:r>
              <a:t>Учебная практика ПМ.05, 3 семестр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74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E3A8A"/>
                </a:solidFill>
                <a:latin typeface="Arial"/>
              </a:defRPr>
            </a:pPr>
            <a:r>
              <a:t>♿ AccessEvent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Проблема и цель проекта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E3A8A"/>
                </a:solidFill>
                <a:latin typeface="Arial"/>
              </a:defRPr>
            </a:pPr>
            <a:r>
              <a:t>Проблема:</a:t>
            </a:r>
          </a:p>
          <a:p>
            <a:pPr>
              <a:spcAft>
                <a:spcPts val="12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Люди с нарушениями слуха не могут использовать обычные платформы мероприятий</a:t>
            </a:r>
          </a:p>
          <a:p>
            <a:pPr>
              <a:spcAft>
                <a:spcPts val="12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Звуковые уведомления и голосовой контакт — недоступны</a:t>
            </a:r>
          </a:p>
          <a:p>
            <a:pPr>
              <a:spcAft>
                <a:spcPts val="12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Нет визуальной индикации статусов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371600"/>
            <a:ext cx="512064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3855" y="16002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E3A8A"/>
                </a:solidFill>
                <a:latin typeface="Arial"/>
              </a:defRPr>
            </a:pPr>
            <a:r>
              <a:t>Цель:</a:t>
            </a:r>
          </a:p>
          <a:p>
            <a:pPr>
              <a:spcAft>
                <a:spcPts val="12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Все ключевые события передаются ВИЗУАЛЬНО</a:t>
            </a:r>
          </a:p>
          <a:p>
            <a:pPr>
              <a:spcAft>
                <a:spcPts val="12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Визуальные уведомления вместо звуковых</a:t>
            </a:r>
          </a:p>
          <a:p>
            <a:pPr>
              <a:spcAft>
                <a:spcPts val="12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Текстовый чат как основной канал связи</a:t>
            </a:r>
          </a:p>
          <a:p>
            <a:pPr>
              <a:spcAft>
                <a:spcPts val="12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Цветовая индикация статусов регистрации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80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75569"/>
                </a:solidFill>
                <a:latin typeface="Arial"/>
              </a:defRPr>
            </a:pPr>
            <a:r>
              <a:t>Соответствие стандарту WCAG 2.1 AA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74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E3A8A"/>
                </a:solidFill>
                <a:latin typeface="Arial"/>
              </a:defRPr>
            </a:pPr>
            <a:r>
              <a:t>♿ AccessEvent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Требования и стейкхолдеры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3A8A"/>
                </a:solidFill>
                <a:latin typeface="Arial"/>
              </a:defRPr>
            </a:pPr>
            <a:r>
              <a:t>Собрано:</a:t>
            </a:r>
          </a:p>
          <a:p>
            <a:pPr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15 функциональных требований (FR)</a:t>
            </a:r>
          </a:p>
          <a:p>
            <a:pPr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8 нефункциональных требований (NFR)</a:t>
            </a:r>
          </a:p>
          <a:p>
            <a:pPr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15 User Stories</a:t>
            </a:r>
          </a:p>
          <a:p>
            <a:pPr>
              <a:spcAft>
                <a:spcPts val="800"/>
              </a:spcAft>
              <a:defRPr sz="2200" b="1">
                <a:solidFill>
                  <a:srgbClr val="1E3A8A"/>
                </a:solidFill>
                <a:latin typeface="Arial"/>
              </a:defRPr>
            </a:pPr>
            <a:r>
              <a:t>Ключевое NFR:</a:t>
            </a:r>
          </a:p>
          <a:p>
            <a:pPr>
              <a:spcAft>
                <a:spcPts val="8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NFR-04: WCAG 2.1 AA — стандарт доступности веб-интерфейсов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371600"/>
            <a:ext cx="512064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3855" y="16002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E3A8A"/>
                </a:solidFill>
                <a:latin typeface="Arial"/>
              </a:defRPr>
            </a:pPr>
            <a:r>
              <a:t>Главный стейкхолдер:</a:t>
            </a:r>
          </a:p>
          <a:p>
            <a:pPr>
              <a:spcAft>
                <a:spcPts val="14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Участник с нарушением слуха</a:t>
            </a:r>
          </a:p>
          <a:p>
            <a:pPr>
              <a:spcAft>
                <a:spcPts val="14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Потребности: визуальные уведомления, чат, цветовые бейджи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80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75569"/>
                </a:solidFill>
                <a:latin typeface="Arial"/>
              </a:defRPr>
            </a:pPr>
            <a:r>
              <a:t>Документация: docs/requirements.md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74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E3A8A"/>
                </a:solidFill>
                <a:latin typeface="Arial"/>
              </a:defRPr>
            </a:pPr>
            <a:r>
              <a:t>♿ AccessEvent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Архитектура системы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1. Клиентский слой: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• HTML5, CSS3, JavaScript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• Jinja2-шаблоны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• Тёмная и светлая тема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470" y="1371600"/>
            <a:ext cx="329184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78070" y="160020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2. Серверный слой: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• Flask (Python 3.11)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• JWT-авторизация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• Blueprint'ы: auth, events, registrations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7420" y="1371600"/>
            <a:ext cx="329184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6020" y="160020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E3A8A"/>
                </a:solidFill>
                <a:latin typeface="Arial"/>
              </a:defRPr>
            </a:pPr>
            <a:r>
              <a:t>3. Слой данных: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• PostgreSQL 16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• Таблицы: users, events, registrations</a:t>
            </a:r>
          </a:p>
          <a:p>
            <a:pPr>
              <a:spcAft>
                <a:spcPts val="1000"/>
              </a:spcAft>
              <a:defRPr sz="2000">
                <a:solidFill>
                  <a:srgbClr val="0F172A"/>
                </a:solidFill>
                <a:latin typeface="Arial"/>
              </a:defRPr>
            </a:pPr>
            <a:r>
              <a:t>• Связи через ForeignKey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080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0">
                <a:solidFill>
                  <a:srgbClr val="475569"/>
                </a:solidFill>
                <a:latin typeface="Arial"/>
              </a:defRPr>
            </a:pPr>
            <a:r>
              <a:t>Архитектура: трёхслойная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74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E3A8A"/>
                </a:solidFill>
                <a:latin typeface="Arial"/>
              </a:defRPr>
            </a:pPr>
            <a:r>
              <a:t>♿ AccessEvent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Демонстрация — сквозной сценарий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6751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6126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  <a:latin typeface="Arial"/>
              </a:defRPr>
            </a:pPr>
            <a:r>
              <a:t>1. Регистрация организатора — форма, валидация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  <a:latin typeface="Arial"/>
              </a:defRPr>
            </a:pPr>
            <a:r>
              <a:t>2. Создание инклюзивного мероприятия — зелёный бейдж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  <a:latin typeface="Arial"/>
              </a:defRPr>
            </a:pPr>
            <a:r>
              <a:t>3. Регистрация участника на мероприятие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  <a:latin typeface="Arial"/>
              </a:defRPr>
            </a:pPr>
            <a:r>
              <a:t>4. Переключение тёмной темы</a:t>
            </a:r>
          </a:p>
          <a:p>
            <a:pPr>
              <a:spcAft>
                <a:spcPts val="1400"/>
              </a:spcAft>
              <a:defRPr sz="2200">
                <a:solidFill>
                  <a:srgbClr val="0F172A"/>
                </a:solidFill>
                <a:latin typeface="Arial"/>
              </a:defRPr>
            </a:pPr>
            <a:r>
              <a:t>5. Проверка API — JSON-ответы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371600"/>
            <a:ext cx="3779215" cy="13716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5963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[ Скриншот 1: Главная страница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2880360"/>
            <a:ext cx="3779215" cy="13716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3246120"/>
            <a:ext cx="35963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[ Скриншот 2: Список мероприятий с бейджами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4389120"/>
            <a:ext cx="3779215" cy="137160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0" y="4754880"/>
            <a:ext cx="35963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8A"/>
                </a:solidFill>
                <a:latin typeface="Arial"/>
              </a:defRPr>
            </a:pPr>
            <a:r>
              <a:t>[ Скриншот 3: Тёмная тема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80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0">
                <a:solidFill>
                  <a:srgbClr val="475569"/>
                </a:solidFill>
                <a:latin typeface="Arial"/>
              </a:defRPr>
            </a:pPr>
            <a:r>
              <a:t>На защите — живой показ в браузере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74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E3A8A"/>
                </a:solidFill>
                <a:latin typeface="Arial"/>
              </a:defRPr>
            </a:pPr>
            <a:r>
              <a:t>♿ AccessEvent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Тестирование и качество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858000" cy="48463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54480"/>
            <a:ext cx="6309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E3A8A"/>
                </a:solidFill>
                <a:latin typeface="Arial"/>
              </a:defRPr>
            </a:pPr>
            <a:r>
              <a:t>Автоматизированные тесты:</a:t>
            </a:r>
          </a:p>
          <a:p>
            <a:pPr>
              <a:spcAft>
                <a:spcPts val="6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14 тестов pytest (6 моделей + 8 API)</a:t>
            </a:r>
          </a:p>
          <a:p>
            <a:pPr>
              <a:spcAft>
                <a:spcPts val="6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Все проходят: 14 passed</a:t>
            </a:r>
          </a:p>
          <a:p>
            <a:pPr>
              <a:spcAft>
                <a:spcPts val="400"/>
              </a:spcAft>
              <a:defRPr sz="2200" b="1">
                <a:solidFill>
                  <a:srgbClr val="1E3A8A"/>
                </a:solidFill>
                <a:latin typeface="Arial"/>
              </a:defRPr>
            </a:pPr>
            <a:r>
              <a:t>Найдено и исправлено 3 бага:</a:t>
            </a:r>
          </a:p>
          <a:p>
            <a:pPr>
              <a:spcAft>
                <a:spcPts val="6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BUG-01 (Major) — дубликат email → 409</a:t>
            </a:r>
          </a:p>
          <a:p>
            <a:pPr>
              <a:spcAft>
                <a:spcPts val="6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BUG-02 (Major) — email без @ отклоняется</a:t>
            </a:r>
          </a:p>
          <a:p>
            <a:pPr>
              <a:spcAft>
                <a:spcPts val="6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BUG-03 (Minor) — SQLite + event_date</a:t>
            </a:r>
          </a:p>
          <a:p>
            <a:pPr>
              <a:spcAft>
                <a:spcPts val="400"/>
              </a:spcAft>
              <a:defRPr sz="2200" b="1">
                <a:solidFill>
                  <a:srgbClr val="1E3A8A"/>
                </a:solidFill>
                <a:latin typeface="Arial"/>
              </a:defRPr>
            </a:pPr>
            <a:r>
              <a:t>CI/CD:</a:t>
            </a:r>
          </a:p>
          <a:p>
            <a:pPr>
              <a:spcAft>
                <a:spcPts val="6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5 workflow GitHub Actions — зелёные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3596335" cy="233172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2148840"/>
            <a:ext cx="3322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6534"/>
                </a:solidFill>
                <a:latin typeface="Arial"/>
              </a:defRPr>
            </a:pPr>
            <a:r>
              <a:t>[ Скриншот: Вывод 14 passed из терминала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3886200"/>
            <a:ext cx="3596335" cy="2331720"/>
          </a:xfrm>
          <a:prstGeom prst="roundRect">
            <a:avLst>
              <a:gd name="adj" fmla="val 2000"/>
            </a:avLst>
          </a:prstGeom>
          <a:solidFill>
            <a:srgbClr val="F1F5F9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4663440"/>
            <a:ext cx="33220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6534"/>
                </a:solidFill>
                <a:latin typeface="Arial"/>
              </a:defRPr>
            </a:pPr>
            <a:r>
              <a:t>[ Скриншот: GitHub Actions с зелёными галочками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74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E3A8A"/>
                </a:solidFill>
                <a:latin typeface="Arial"/>
              </a:defRPr>
            </a:pPr>
            <a:r>
              <a:t>♿ AccessEvent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8412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Arial"/>
              </a:defRPr>
            </a:pPr>
            <a:r>
              <a:t>Оценка и направления развития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1E3A8A"/>
                </a:solidFill>
                <a:latin typeface="Arial"/>
              </a:defRPr>
            </a:pPr>
            <a:r>
              <a:t>SWOT-анализ:</a:t>
            </a:r>
          </a:p>
          <a:p>
            <a:pPr>
              <a:spcAft>
                <a:spcPts val="14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Сильные стороны: инклюзивность, автоматизация CI/CD</a:t>
            </a:r>
          </a:p>
          <a:p>
            <a:pPr>
              <a:spcAft>
                <a:spcPts val="14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Слабые стороны: нет push-уведомлений, нет мобильного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39535" y="1371600"/>
            <a:ext cx="512064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3855" y="160020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E3A8A"/>
                </a:solidFill>
                <a:latin typeface="Arial"/>
              </a:defRPr>
            </a:pPr>
            <a:r>
              <a:t>Направления модернизации:</a:t>
            </a:r>
          </a:p>
          <a:p>
            <a:pPr>
              <a:spcAft>
                <a:spcPts val="12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1. Push-уведомления (Web Push API)</a:t>
            </a:r>
          </a:p>
          <a:p>
            <a:pPr>
              <a:spcAft>
                <a:spcPts val="12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2. Интеграция с календарями (iCal)</a:t>
            </a:r>
          </a:p>
          <a:p>
            <a:pPr>
              <a:spcAft>
                <a:spcPts val="12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3. Автоматические субтитры (Whisper)</a:t>
            </a:r>
          </a:p>
          <a:p>
            <a:pPr>
              <a:spcAft>
                <a:spcPts val="12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4. PWA-версия для мобильных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8076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475569"/>
                </a:solidFill>
                <a:latin typeface="Arial"/>
              </a:defRPr>
            </a:pPr>
            <a:r>
              <a:t>Документация: docs/assessment.md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0" y="274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1E3A8A"/>
                </a:solidFill>
                <a:latin typeface="Arial"/>
              </a:defRPr>
            </a:pPr>
            <a:r>
              <a:t>♿ AccessEvent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F172A"/>
                </a:solidFill>
                <a:latin typeface="Arial"/>
              </a:defRPr>
            </a:pPr>
            <a:r>
              <a:t>Спасибо за внимание!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7498079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1E3A8A"/>
                </a:solidFill>
                <a:latin typeface="Arial"/>
              </a:defRPr>
            </a:pPr>
            <a:r>
              <a:t>Проект готов к сопровождению:</a:t>
            </a:r>
          </a:p>
          <a:p>
            <a:pPr>
              <a:spcAft>
                <a:spcPts val="6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Полная документация в docs/</a:t>
            </a:r>
          </a:p>
          <a:p>
            <a:pPr>
              <a:spcAft>
                <a:spcPts val="6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Контейнеризация через Docker</a:t>
            </a:r>
          </a:p>
          <a:p>
            <a:pPr>
              <a:spcAft>
                <a:spcPts val="6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• CI/CD через GitHub Actions</a:t>
            </a:r>
          </a:p>
          <a:p>
            <a:pPr>
              <a:spcAft>
                <a:spcPts val="600"/>
              </a:spcAft>
              <a:defRPr sz="2200" b="1">
                <a:solidFill>
                  <a:srgbClr val="1E3A8A"/>
                </a:solidFill>
                <a:latin typeface="Arial"/>
              </a:defRPr>
            </a:pPr>
            <a:r>
              <a:t>Репозиторий:</a:t>
            </a:r>
          </a:p>
          <a:p>
            <a:pPr>
              <a:spcAft>
                <a:spcPts val="6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github.com/NiketOmg7/accessevent</a:t>
            </a:r>
          </a:p>
          <a:p>
            <a:pPr>
              <a:spcAft>
                <a:spcPts val="600"/>
              </a:spcAft>
              <a:defRPr sz="2200" b="1">
                <a:solidFill>
                  <a:srgbClr val="1E3A8A"/>
                </a:solidFill>
                <a:latin typeface="Arial"/>
              </a:defRPr>
            </a:pPr>
            <a:r>
              <a:t>Docker-образ:</a:t>
            </a:r>
          </a:p>
          <a:p>
            <a:pPr>
              <a:spcAft>
                <a:spcPts val="600"/>
              </a:spcAft>
              <a:defRPr sz="2200" b="0">
                <a:solidFill>
                  <a:srgbClr val="0F172A"/>
                </a:solidFill>
                <a:latin typeface="Arial"/>
              </a:defRPr>
            </a:pPr>
            <a:r>
              <a:t>ghcr.io/niketomg7/accessevent:latest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737360"/>
            <a:ext cx="2956255" cy="44805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qr_access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590" y="2103120"/>
            <a:ext cx="22860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1080" y="4572000"/>
            <a:ext cx="26819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475569"/>
                </a:solidFill>
                <a:latin typeface="Arial"/>
              </a:defRPr>
            </a:pPr>
            <a:r>
              <a:t>Сканируйте для перехода в репозиторий:</a:t>
            </a:r>
            <a:br/>
            <a:r>
              <a:t>github.com/NiketOmg7/</a:t>
            </a:r>
            <a:br/>
            <a:r>
              <a:t>accessevent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